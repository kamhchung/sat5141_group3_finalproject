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Della Respira"/>
      <p:regular r:id="rId20"/>
    </p:embeddedFont>
    <p:embeddedFont>
      <p:font typeface="DM Sans Light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Inter Tight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TightSemiBold-italic.fntdata"/><Relationship Id="rId30" Type="http://schemas.openxmlformats.org/officeDocument/2006/relationships/font" Target="fonts/InterTightSemiBold-bold.fntdata"/><Relationship Id="rId32" Type="http://schemas.openxmlformats.org/officeDocument/2006/relationships/font" Target="fonts/InterTightSemiBold-boldItalic.fntdata"/><Relationship Id="rId20" Type="http://schemas.openxmlformats.org/officeDocument/2006/relationships/font" Target="fonts/DellaRespira-regular.fntdata"/><Relationship Id="rId22" Type="http://schemas.openxmlformats.org/officeDocument/2006/relationships/font" Target="fonts/DMSansLight-bold.fntdata"/><Relationship Id="rId21" Type="http://schemas.openxmlformats.org/officeDocument/2006/relationships/font" Target="fonts/DMSansLight-regular.fntdata"/><Relationship Id="rId24" Type="http://schemas.openxmlformats.org/officeDocument/2006/relationships/font" Target="fonts/DMSansLight-boldItalic.fntdata"/><Relationship Id="rId23" Type="http://schemas.openxmlformats.org/officeDocument/2006/relationships/font" Target="fonts/DMSansLight-italic.fntdata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29" Type="http://schemas.openxmlformats.org/officeDocument/2006/relationships/font" Target="fonts/InterTight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d454c1f4a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d454c1f4a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d454c1f4a_0_2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d454c1f4a_0_2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d454c1f4a_0_3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d454c1f4a_0_3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d454c1f4a_0_38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d454c1f4a_0_3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d454c1f4a_0_3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d454c1f4a_0_3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d454c1f4a_0_2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d454c1f4a_0_2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d454c1f4a_0_2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ad454c1f4a_0_2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d454c1f4a_0_3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d454c1f4a_0_3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d454c1f4a_0_3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ad454c1f4a_0_3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d454c1f4a_0_3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d454c1f4a_0_3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d454c1f4a_0_3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ad454c1f4a_0_3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ad454c1f4a_0_3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ad454c1f4a_0_3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d454c1f4a_0_3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ad454c1f4a_0_3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d454c1f4a_0_3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d454c1f4a_0_3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2" name="Google Shape;42;p5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3" name="Google Shape;43;p5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4" name="Google Shape;44;p5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5" name="Google Shape;45;p5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" name="Google Shape;89;p9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0" name="Google Shape;110;p1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1" name="Google Shape;111;p1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33" name="Google Shape;133;p1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4" name="Google Shape;134;p14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42" name="Google Shape;142;p15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7" name="Google Shape;147;p16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3" name="Google Shape;153;p17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57" name="Google Shape;157;p17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9" name="Google Shape;179;p19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8" name="Google Shape;248;p33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5" name="Google Shape;255;p34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1" name="Google Shape;261;p34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8" name="Google Shape;268;p35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0" name="Google Shape;270;p35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2" name="Google Shape;272;p35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4" name="Google Shape;274;p35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6" name="Google Shape;276;p35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36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5" name="Google Shape;285;p36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7" name="Google Shape;287;p36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1" name="Google Shape;291;p36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3" name="Google Shape;293;p36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5" name="Google Shape;295;p36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9" name="Google Shape;309;p38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38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8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2" name="Google Shape;312;p38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3" name="Google Shape;323;p39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5" name="Google Shape;325;p39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39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7" name="Google Shape;337;p41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1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1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1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1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1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1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1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8" name="Google Shape;34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" name="Google Shape;3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5" name="Google Shape;38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0" name="Google Shape;400;p5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2" name="Google Shape;432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s">
  <p:cSld name="TITLE_AND_BODY_2">
    <p:bg>
      <p:bgPr>
        <a:solidFill>
          <a:schemeClr val="lt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/>
          <p:nvPr>
            <p:ph idx="2" type="pic"/>
          </p:nvPr>
        </p:nvSpPr>
        <p:spPr>
          <a:xfrm rot="299990">
            <a:off x="716131" y="2331244"/>
            <a:ext cx="3686628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6" name="Google Shape;456;p61"/>
          <p:cNvSpPr/>
          <p:nvPr>
            <p:ph idx="3" type="pic"/>
          </p:nvPr>
        </p:nvSpPr>
        <p:spPr>
          <a:xfrm rot="-300269">
            <a:off x="4741294" y="2331368"/>
            <a:ext cx="3686654" cy="2455534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7" name="Google Shape;457;p61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61"/>
          <p:cNvSpPr txBox="1"/>
          <p:nvPr>
            <p:ph idx="1" type="body"/>
          </p:nvPr>
        </p:nvSpPr>
        <p:spPr>
          <a:xfrm>
            <a:off x="333925" y="1163150"/>
            <a:ext cx="84756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59" name="Google Shape;459;p61"/>
          <p:cNvSpPr txBox="1"/>
          <p:nvPr>
            <p:ph idx="12" type="sldNum"/>
          </p:nvPr>
        </p:nvSpPr>
        <p:spPr>
          <a:xfrm>
            <a:off x="8260675" y="205550"/>
            <a:ext cx="5487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1716575" y="205550"/>
            <a:ext cx="28554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333925" y="205550"/>
            <a:ext cx="1353300" cy="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Inter Tight SemiBold"/>
              <a:buNone/>
              <a:defRPr sz="7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i.org/10.1053/j.nainr.2011.07.004" TargetMode="External"/><Relationship Id="rId4" Type="http://schemas.openxmlformats.org/officeDocument/2006/relationships/hyperlink" Target="https://doi.org/10.1016/j.clp.2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i.org/10.1016/j.pediatrneurol.2016.10.019" TargetMode="External"/><Relationship Id="rId4" Type="http://schemas.openxmlformats.org/officeDocument/2006/relationships/hyperlink" Target="https://doi.org/10.1016/j.pediatrneurol.2016.10.019" TargetMode="External"/><Relationship Id="rId5" Type="http://schemas.openxmlformats.org/officeDocument/2006/relationships/hyperlink" Target="https://doi.org/10.5281/zenodo.7477575" TargetMode="External"/><Relationship Id="rId6" Type="http://schemas.openxmlformats.org/officeDocument/2006/relationships/hyperlink" Target="https://doi.org/10.2478/prilo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Predicting Neonatal Seizure Risk in Hypoxic-Ischemic, Encephalopathy Using EEG Metadata, Clinical Features, and Modified Sarnat Scoring</a:t>
            </a:r>
            <a:endParaRPr sz="3000"/>
          </a:p>
        </p:txBody>
      </p:sp>
      <p:sp>
        <p:nvSpPr>
          <p:cNvPr id="467" name="Google Shape;467;p6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SAT 5141 - Final Project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8" name="Google Shape;468;p6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Kameron Chung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9" name="Google Shape;4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325" y="3086326"/>
            <a:ext cx="4351275" cy="108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 occurs in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1–6 per 1,000 live term births</a:t>
            </a:r>
            <a:b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Leading cause of neonatal mortality and long-term disability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Subclinical seizures occur in 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 to 80%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neonates with HIE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Seizures worsen brain injury and are often clinically silent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recognition and EEG monitoring improves outcomes</a:t>
            </a:r>
            <a:b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High-risk, high-cost NICU population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75" name="Google Shape;475;p6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focus on HIE infants?</a:t>
            </a:r>
            <a:endParaRPr/>
          </a:p>
        </p:txBody>
      </p:sp>
      <p:pic>
        <p:nvPicPr>
          <p:cNvPr id="476" name="Google Shape;47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825" y="1250602"/>
            <a:ext cx="3671584" cy="3671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4"/>
          <p:cNvSpPr txBox="1"/>
          <p:nvPr>
            <p:ph type="title"/>
          </p:nvPr>
        </p:nvSpPr>
        <p:spPr>
          <a:xfrm>
            <a:off x="1712400" y="316800"/>
            <a:ext cx="5719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/>
              <a:t>Literature Review</a:t>
            </a:r>
            <a:endParaRPr sz="2900"/>
          </a:p>
        </p:txBody>
      </p:sp>
      <p:sp>
        <p:nvSpPr>
          <p:cNvPr id="482" name="Google Shape;482;p64"/>
          <p:cNvSpPr txBox="1"/>
          <p:nvPr>
            <p:ph idx="4294967295" type="body"/>
          </p:nvPr>
        </p:nvSpPr>
        <p:spPr>
          <a:xfrm>
            <a:off x="552275" y="1328950"/>
            <a:ext cx="8060400" cy="34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Bonifacio &amp; Hutson (2021): early identification of HIE is essential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Ristovska et al. (2022): high morbidity and mortality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Cornet et al. (2025): EEG background grade strongly predicts severity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Jain et al. (2017): EEG spectral features help predict neonatal seizures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Mrelashvili et al. (2020): value and challenges of Sarnat scoring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Allen &amp; Brandon (2011): pathophysiology of injury and experimental treatments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Babbo et al. (2024): cost and long-term burden of neonatal encephalopathy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5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and Burdens of HIE</a:t>
            </a:r>
            <a:endParaRPr/>
          </a:p>
        </p:txBody>
      </p:sp>
      <p:sp>
        <p:nvSpPr>
          <p:cNvPr id="488" name="Google Shape;488;p65"/>
          <p:cNvSpPr txBox="1"/>
          <p:nvPr>
            <p:ph idx="1" type="body"/>
          </p:nvPr>
        </p:nvSpPr>
        <p:spPr>
          <a:xfrm>
            <a:off x="334200" y="14315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Hospital cost of severe HIE case: </a:t>
            </a:r>
            <a:r>
              <a:rPr b="1" lang="en">
                <a:solidFill>
                  <a:schemeClr val="dk1"/>
                </a:solidFill>
              </a:rPr>
              <a:t>$70,000–150,000+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Long-term costs for CP/epilepsy: </a:t>
            </a:r>
            <a:r>
              <a:rPr b="1" lang="en">
                <a:solidFill>
                  <a:schemeClr val="dk1"/>
                </a:solidFill>
              </a:rPr>
              <a:t>&gt;$1 million lifetime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Prolonged NICU stay and neuroimaging use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Seizures increase: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length of stay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probability of neurodevelopmental disability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resource utilization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6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Identification Codes</a:t>
            </a:r>
            <a:endParaRPr/>
          </a:p>
        </p:txBody>
      </p:sp>
      <p:sp>
        <p:nvSpPr>
          <p:cNvPr id="494" name="Google Shape;494;p66"/>
          <p:cNvSpPr txBox="1"/>
          <p:nvPr>
            <p:ph idx="1" type="body"/>
          </p:nvPr>
        </p:nvSpPr>
        <p:spPr>
          <a:xfrm>
            <a:off x="10836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ICD-10 Codes for HIE: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P91.60 (Unspe</a:t>
            </a: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ified HIE)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P91.61 (Mild)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P91.62 (Moderate)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P91.63 (Severe)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Seizure-related codes: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P90 (Neonatal convulsions)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6"/>
          <p:cNvSpPr txBox="1"/>
          <p:nvPr>
            <p:ph idx="1" type="body"/>
          </p:nvPr>
        </p:nvSpPr>
        <p:spPr>
          <a:xfrm>
            <a:off x="45720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Procedures: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Continuous EEG monitoring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Char char="●"/>
            </a:pPr>
            <a:r>
              <a:rPr lang="en">
                <a:solidFill>
                  <a:schemeClr val="dk1"/>
                </a:solidFill>
              </a:rPr>
              <a:t>MRI/cranial ultrasound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7"/>
          <p:cNvSpPr/>
          <p:nvPr/>
        </p:nvSpPr>
        <p:spPr>
          <a:xfrm>
            <a:off x="274950" y="1164975"/>
            <a:ext cx="8598900" cy="1816500"/>
          </a:xfrm>
          <a:prstGeom prst="roundRect">
            <a:avLst>
              <a:gd fmla="val 14050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01" name="Google Shape;501;p67"/>
          <p:cNvSpPr txBox="1"/>
          <p:nvPr>
            <p:ph idx="1" type="body"/>
          </p:nvPr>
        </p:nvSpPr>
        <p:spPr>
          <a:xfrm>
            <a:off x="496375" y="1356550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Two datasets: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EEG Metadata dataset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Clinical Information dataset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Primary measurement: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Predicting seizure occurrence from EEG metadata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02" name="Google Shape;502;p67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and Data Sources</a:t>
            </a:r>
            <a:endParaRPr/>
          </a:p>
        </p:txBody>
      </p:sp>
      <p:pic>
        <p:nvPicPr>
          <p:cNvPr id="503" name="Google Shape;503;p67" title="meta_df.head()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676" l="0" r="0" t="8685"/>
          <a:stretch/>
        </p:blipFill>
        <p:spPr>
          <a:xfrm>
            <a:off x="274900" y="3157225"/>
            <a:ext cx="8598900" cy="1707000"/>
          </a:xfrm>
          <a:prstGeom prst="roundRect">
            <a:avLst>
              <a:gd fmla="val 15762" name="adj"/>
            </a:avLst>
          </a:prstGeom>
        </p:spPr>
      </p:pic>
      <p:sp>
        <p:nvSpPr>
          <p:cNvPr id="504" name="Google Shape;504;p67"/>
          <p:cNvSpPr txBox="1"/>
          <p:nvPr>
            <p:ph idx="1" type="body"/>
          </p:nvPr>
        </p:nvSpPr>
        <p:spPr>
          <a:xfrm>
            <a:off x="4572000" y="1356550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Secondary measurement: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Predicting seizures using only clinical factors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Tertiary tool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Modified Sarnat score calculator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68" title="pipelin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213" l="3936" r="4930" t="-4224"/>
          <a:stretch/>
        </p:blipFill>
        <p:spPr>
          <a:xfrm>
            <a:off x="4842400" y="1356125"/>
            <a:ext cx="3828900" cy="3591300"/>
          </a:xfrm>
          <a:prstGeom prst="roundRect">
            <a:avLst>
              <a:gd fmla="val 16667" name="adj"/>
            </a:avLst>
          </a:prstGeom>
        </p:spPr>
      </p:pic>
      <p:sp>
        <p:nvSpPr>
          <p:cNvPr id="510" name="Google Shape;510;p68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Transparent, interpretable model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Works well for low-feature datasets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Allows threshold tuning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Suitable for imbalanced datasets with oversampling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Alternative models considered: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Random Forest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Gradient Boosting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1D CNN for raw EEG (future direction)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</a:t>
            </a:r>
            <a:r>
              <a:rPr lang="en"/>
              <a:t>logistic</a:t>
            </a:r>
            <a:r>
              <a:rPr lang="en"/>
              <a:t> regression?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9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Weaknesses of the Data</a:t>
            </a:r>
            <a:endParaRPr/>
          </a:p>
        </p:txBody>
      </p:sp>
      <p:sp>
        <p:nvSpPr>
          <p:cNvPr id="517" name="Google Shape;517;p69"/>
          <p:cNvSpPr txBox="1"/>
          <p:nvPr>
            <p:ph idx="1" type="body"/>
          </p:nvPr>
        </p:nvSpPr>
        <p:spPr>
          <a:xfrm>
            <a:off x="10836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Strengths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Real NICU EEG data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Annotated by trained experts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Includes both background grade and seizure labeling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Weaknesses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Only </a:t>
            </a:r>
            <a:r>
              <a:rPr b="1" lang="en" sz="1200">
                <a:solidFill>
                  <a:schemeClr val="dk1"/>
                </a:solidFill>
              </a:rPr>
              <a:t>2 infants with seizures</a:t>
            </a:r>
            <a:r>
              <a:rPr lang="en" sz="1200">
                <a:solidFill>
                  <a:schemeClr val="dk1"/>
                </a:solidFill>
              </a:rPr>
              <a:t> in metadata dataset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Small sample sizes → limited generalizability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No raw EEG waveforms for feature extraction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9"/>
          <p:cNvSpPr txBox="1"/>
          <p:nvPr>
            <p:ph idx="1" type="body"/>
          </p:nvPr>
        </p:nvSpPr>
        <p:spPr>
          <a:xfrm>
            <a:off x="4572000" y="1650100"/>
            <a:ext cx="34884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Risk Adjustment / Severity Adjustment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</a:rPr>
              <a:t>Used Sarnat scoring tool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</a:rPr>
              <a:t>Patient-wise train-test split to avoid leakage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>
                <a:solidFill>
                  <a:schemeClr val="dk1"/>
                </a:solidFill>
              </a:rPr>
              <a:t>Oversampling in training set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70" title="confusion matrix threshold 0.5.png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249" y="2571649"/>
            <a:ext cx="2468400" cy="2468400"/>
          </a:xfrm>
          <a:prstGeom prst="snip1Rect">
            <a:avLst>
              <a:gd fmla="val 16667" name="adj"/>
            </a:avLst>
          </a:prstGeom>
        </p:spPr>
      </p:pic>
      <p:pic>
        <p:nvPicPr>
          <p:cNvPr id="524" name="Google Shape;524;p70" title="threshold 0.0.png"/>
          <p:cNvPicPr preferRelativeResize="0"/>
          <p:nvPr>
            <p:ph idx="3" type="pic"/>
          </p:nvPr>
        </p:nvPicPr>
        <p:blipFill>
          <a:blip r:embed="rId4">
            <a:alphaModFix/>
          </a:blip>
          <a:stretch>
            <a:fillRect/>
          </a:stretch>
        </p:blipFill>
        <p:spPr>
          <a:xfrm rot="-418">
            <a:off x="5329500" y="2571651"/>
            <a:ext cx="2468400" cy="2468400"/>
          </a:xfrm>
          <a:prstGeom prst="snip1Rect">
            <a:avLst>
              <a:gd fmla="val 16667" name="adj"/>
            </a:avLst>
          </a:prstGeom>
        </p:spPr>
      </p:pic>
      <p:sp>
        <p:nvSpPr>
          <p:cNvPr id="525" name="Google Shape;525;p70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findings and Interpretations</a:t>
            </a:r>
            <a:endParaRPr/>
          </a:p>
        </p:txBody>
      </p:sp>
      <p:sp>
        <p:nvSpPr>
          <p:cNvPr id="526" name="Google Shape;526;p70"/>
          <p:cNvSpPr txBox="1"/>
          <p:nvPr>
            <p:ph idx="1" type="body"/>
          </p:nvPr>
        </p:nvSpPr>
        <p:spPr>
          <a:xfrm>
            <a:off x="333925" y="1163150"/>
            <a:ext cx="84756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EEG metadata model predicted seizures better than clinical-only model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Threshold tuning improved sensitivity/reduced false negatives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Clinical-only model performed near chance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Sarnat tool provides structured context for EEG monitoring decisions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1"/>
          <p:cNvSpPr/>
          <p:nvPr/>
        </p:nvSpPr>
        <p:spPr>
          <a:xfrm>
            <a:off x="274950" y="1164975"/>
            <a:ext cx="8598900" cy="1816500"/>
          </a:xfrm>
          <a:prstGeom prst="roundRect">
            <a:avLst>
              <a:gd fmla="val 14050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532" name="Google Shape;532;p71"/>
          <p:cNvSpPr txBox="1"/>
          <p:nvPr>
            <p:ph idx="1" type="body"/>
          </p:nvPr>
        </p:nvSpPr>
        <p:spPr>
          <a:xfrm>
            <a:off x="527325" y="1164975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912">
                <a:solidFill>
                  <a:schemeClr val="dk1"/>
                </a:solidFill>
              </a:rPr>
              <a:t>Recommendations:</a:t>
            </a:r>
            <a:endParaRPr b="1"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13"/>
              <a:buFont typeface="Arial"/>
              <a:buChar char="●"/>
            </a:pPr>
            <a:r>
              <a:rPr b="1" lang="en" sz="912">
                <a:solidFill>
                  <a:schemeClr val="dk1"/>
                </a:solidFill>
              </a:rPr>
              <a:t>Use larger datasets</a:t>
            </a:r>
            <a:r>
              <a:rPr lang="en" sz="912">
                <a:solidFill>
                  <a:schemeClr val="dk1"/>
                </a:solidFill>
              </a:rPr>
              <a:t> or merge multiple NICU EEG datasets</a:t>
            </a:r>
            <a:endParaRPr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Arial"/>
              <a:buChar char="●"/>
            </a:pPr>
            <a:r>
              <a:rPr lang="en" sz="912">
                <a:solidFill>
                  <a:schemeClr val="dk1"/>
                </a:solidFill>
              </a:rPr>
              <a:t>Include </a:t>
            </a:r>
            <a:r>
              <a:rPr b="1" lang="en" sz="912">
                <a:solidFill>
                  <a:schemeClr val="dk1"/>
                </a:solidFill>
              </a:rPr>
              <a:t>raw EEG features</a:t>
            </a:r>
            <a:r>
              <a:rPr lang="en" sz="912">
                <a:solidFill>
                  <a:schemeClr val="dk1"/>
                </a:solidFill>
              </a:rPr>
              <a:t> or deep learning models</a:t>
            </a:r>
            <a:endParaRPr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●"/>
            </a:pPr>
            <a:r>
              <a:rPr lang="en" sz="912">
                <a:solidFill>
                  <a:schemeClr val="dk1"/>
                </a:solidFill>
              </a:rPr>
              <a:t>Integrate Sarnat scoring into structured EHR documentation</a:t>
            </a:r>
            <a:endParaRPr sz="912">
              <a:solidFill>
                <a:schemeClr val="dk1"/>
              </a:solidFill>
            </a:endParaRPr>
          </a:p>
          <a:p>
            <a:pPr indent="-2865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●"/>
            </a:pPr>
            <a:r>
              <a:rPr lang="en" sz="912">
                <a:solidFill>
                  <a:schemeClr val="dk1"/>
                </a:solidFill>
              </a:rPr>
              <a:t>Develop a CDS interface that combines:</a:t>
            </a:r>
            <a:endParaRPr sz="912">
              <a:solidFill>
                <a:schemeClr val="dk1"/>
              </a:solidFill>
            </a:endParaRPr>
          </a:p>
          <a:p>
            <a:pPr indent="-2865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○"/>
            </a:pPr>
            <a:r>
              <a:rPr lang="en" sz="912">
                <a:solidFill>
                  <a:schemeClr val="dk1"/>
                </a:solidFill>
              </a:rPr>
              <a:t>EEG risk model</a:t>
            </a:r>
            <a:endParaRPr sz="912">
              <a:solidFill>
                <a:schemeClr val="dk1"/>
              </a:solidFill>
            </a:endParaRPr>
          </a:p>
          <a:p>
            <a:pPr indent="-2865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○"/>
            </a:pPr>
            <a:r>
              <a:rPr lang="en" sz="912">
                <a:solidFill>
                  <a:schemeClr val="dk1"/>
                </a:solidFill>
              </a:rPr>
              <a:t>Sarnat stage</a:t>
            </a:r>
            <a:endParaRPr sz="912">
              <a:solidFill>
                <a:schemeClr val="dk1"/>
              </a:solidFill>
            </a:endParaRPr>
          </a:p>
          <a:p>
            <a:pPr indent="-286543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3"/>
              <a:buFont typeface="DM Sans"/>
              <a:buChar char="○"/>
            </a:pPr>
            <a:r>
              <a:rPr lang="en" sz="912">
                <a:solidFill>
                  <a:schemeClr val="dk1"/>
                </a:solidFill>
              </a:rPr>
              <a:t>Clinical risk factors</a:t>
            </a:r>
            <a:endParaRPr sz="912">
              <a:solidFill>
                <a:schemeClr val="dk1"/>
              </a:solidFill>
            </a:endParaRPr>
          </a:p>
        </p:txBody>
      </p:sp>
      <p:sp>
        <p:nvSpPr>
          <p:cNvPr id="533" name="Google Shape;533;p7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and Feasability</a:t>
            </a:r>
            <a:endParaRPr/>
          </a:p>
        </p:txBody>
      </p:sp>
      <p:pic>
        <p:nvPicPr>
          <p:cNvPr id="534" name="Google Shape;534;p71" title="sarnat scor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517" l="0" r="0" t="10518"/>
          <a:stretch/>
        </p:blipFill>
        <p:spPr>
          <a:xfrm>
            <a:off x="274950" y="3094100"/>
            <a:ext cx="8598900" cy="1923600"/>
          </a:xfrm>
          <a:prstGeom prst="roundRect">
            <a:avLst>
              <a:gd fmla="val 15762" name="adj"/>
            </a:avLst>
          </a:prstGeom>
        </p:spPr>
      </p:pic>
      <p:sp>
        <p:nvSpPr>
          <p:cNvPr id="535" name="Google Shape;535;p71"/>
          <p:cNvSpPr txBox="1"/>
          <p:nvPr>
            <p:ph idx="1" type="body"/>
          </p:nvPr>
        </p:nvSpPr>
        <p:spPr>
          <a:xfrm>
            <a:off x="4572000" y="1356550"/>
            <a:ext cx="37473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Feasibility: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</a:rPr>
              <a:t>Technically feasible with larger datasets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</a:rPr>
              <a:t>Clinically relevant—low-risk to integrate decision support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</a:rPr>
              <a:t>Regulatory work needed before deployment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2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41" name="Google Shape;541;p72"/>
          <p:cNvSpPr txBox="1"/>
          <p:nvPr>
            <p:ph idx="1" type="body"/>
          </p:nvPr>
        </p:nvSpPr>
        <p:spPr>
          <a:xfrm>
            <a:off x="334200" y="14315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EEG information is essential for predicting seizures in HIE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Logistic regression with oversampling provides a starting point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Clinical variables alone cannot reliably detect risk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The Modified Sarnat calculator adds interpretability and clinical structure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Future work: multimodal CDS platform combining EEG + clinical scoring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3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47" name="Google Shape;547;p73"/>
          <p:cNvSpPr txBox="1"/>
          <p:nvPr>
            <p:ph idx="1" type="body"/>
          </p:nvPr>
        </p:nvSpPr>
        <p:spPr>
          <a:xfrm>
            <a:off x="1097650" y="12162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Allen, K. A., &amp; Brandon, D. H. (2011). Hypoxic Ischemic Encephalopathy: Pathophysiology and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Treatments.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Newborn and infant nursing reviews : NAINR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(3), 125–133.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https://doi.org/10.1053/j.nainr.2011.07.004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Babbo, C. C., Mellet, J., van Rensburg, J., Pillay, S., Horn, A. R., Nakwa, F. L., Velaphi, S. C.,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Kali, G. T. J., Coetzee, M., Masemola, M. Y. K., Ballot, D. E., &amp; Pepper, M. S. (2024).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Neonatal encephalopathy due to suspected hypoxic ischemic encephalopathy: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pathophysiology, current, and emerging treatments.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journal of pediatrics : WJP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(11), 1105–1114. https://doi.org/10.1007/s12519-024-00836-9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Bonifacio, S. L., &amp; Hutson, S. (2021). The Term Newborn: Evaluation for Hypoxic-Ischemic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Encephalopathy.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Clinics in perinatology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(3), 681–695.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https://doi.org/10.1016/j.clp.2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021.05.014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Cornet, M. C., Numis, A. L., Monsell, S. E., Chan, N. H., Gonzalez, F. F., Comstock, B. A., Juul,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E., Wusthoff, C. J., Wu, Y. W., &amp; Glass, H. C. (2025). Assessing Early Severity of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Hypoxic-Ischemic Encephalopathy: The Role of Electroencephalogram Background in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to Sarnat Exam.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Journal of pediatrics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277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114411.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https://doi.org/10.1016/j.jpeds.2024.114411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4"/>
          <p:cNvSpPr txBox="1"/>
          <p:nvPr>
            <p:ph type="title"/>
          </p:nvPr>
        </p:nvSpPr>
        <p:spPr>
          <a:xfrm>
            <a:off x="333925" y="58715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cont.</a:t>
            </a:r>
            <a:endParaRPr/>
          </a:p>
        </p:txBody>
      </p:sp>
      <p:sp>
        <p:nvSpPr>
          <p:cNvPr id="553" name="Google Shape;553;p74"/>
          <p:cNvSpPr txBox="1"/>
          <p:nvPr>
            <p:ph idx="1" type="body"/>
          </p:nvPr>
        </p:nvSpPr>
        <p:spPr>
          <a:xfrm>
            <a:off x="1097650" y="1216200"/>
            <a:ext cx="8475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Jain, S. V., Mathur, A., Srinivasakumar, P., Wallendorf, M., Culver, J. P., &amp; Zempel, J. M. (2017).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of Neonatal Seizures in Hypoxic-Ischemic Encephalopathy Using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Electroencephalograph Power Analyses.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Pediatric neurology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64–70.e2.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://doi.org/10.1016/j.pediatrneurol.2016.10.019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O'Toole, J. M., Mathieson, S. R., Magarelli, F., Marnane, W. P., Lightbody, G., &amp; Boylan, G. B.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(2022). Neonatal EEG Graded for Severity of Background Abnormalities (2.0) [Data set]. Zenodo.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https://doi.org/10.5281/zenodo.7477575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Mrelashvili, A., Russ, J. B., Ferriero, D. M., &amp; Wusthoff, C. J. (2020). The Sarnat score for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neonatal encephalopathy: looking back and moving forward.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Pediatric research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(6),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824–825. https://doi.org/10.1038/s41390-020-01143-5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Ristovska, S., Stomnaroska, O., &amp; Danilovski, D. (2022). Hypoxic Ischemic Encephalopathy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(HIE) in Term and Preterm Infants.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Prilozi (Makedonska akademija na naukite i </a:t>
            </a:r>
            <a:endParaRPr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umetnostite. Oddelenie za medicinski nauki)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77–84.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https://doi.org/10.2478/prilo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zi-2022-0013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Stevenson, N., Tapani, K., Lauronen, L., &amp; Vanhatalo,S. (2018). A dataset of neonatal EEG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recordings with seizures annotations [Data set]. Zenodo. https://doi.org/10.5281/zenodo.4940267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5"/>
          <p:cNvSpPr txBox="1"/>
          <p:nvPr>
            <p:ph type="title"/>
          </p:nvPr>
        </p:nvSpPr>
        <p:spPr>
          <a:xfrm>
            <a:off x="334200" y="2285400"/>
            <a:ext cx="847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